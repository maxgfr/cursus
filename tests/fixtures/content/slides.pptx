
<file path=[Content_Types].xml><?xml version="1.0" encoding="utf-8"?>
<Types xmlns="http://schemas.openxmlformats.org/package/2006/content-types">
  <Default Extension="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  <p:sldId id="258" r:id="rId4"/>
    <p:sldId id="259" r:id="rId5"/>
  </p:sldIdLst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sldImg"/>
          </p:nvPr>
        </p:nvSpPr>
        <p:spPr/>
        <p:txBody>
          <a:bodyPr/>
        </p:txBody>
      </p:sp>
      <p:sp>
        <p:nvSpPr>
          <p:cNvPr id="3" name="Shape 3"/>
          <p:cNvSpPr/>
          <p:nvPr>
            <p:ph type="body"/>
          </p:nvPr>
        </p:nvSpPr>
        <p:spPr/>
        <p:txBody>
          <a:bodyPr/>
          <a:p>
            <a:r>
              <a:rPr lang="en-US"/>
              <a:t>Welcome everyone. Today: membranes.</a:t>
            </a:r>
          </a:p>
        </p:txBody>
      </p:sp>
      <p:sp>
        <p:nvSpPr>
          <p:cNvPr id="4" name="Shape 4"/>
          <p:cNvSpPr/>
          <p:nvPr>
            <p:ph type="sldNum"/>
          </p:nvPr>
        </p:nvSpPr>
        <p:spPr/>
        <p:txBody>
          <a:bodyPr/>
          <a:p>
            <a:r>
              <a:rPr lang="en-US"/>
              <a:t>2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sldImg"/>
          </p:nvPr>
        </p:nvSpPr>
        <p:spPr/>
        <p:txBody>
          <a:bodyPr/>
        </p:txBody>
      </p:sp>
      <p:sp>
        <p:nvSpPr>
          <p:cNvPr id="3" name="Shape 3"/>
          <p:cNvSpPr/>
          <p:nvPr>
            <p:ph type="body"/>
          </p:nvPr>
        </p:nvSpPr>
        <p:spPr/>
        <p:txBody>
          <a:bodyPr/>
          <a:p>
            <a:r>
              <a:rPr lang="en-US"/>
              <a:t>Stress that water moves, not solutes.</a:t>
            </a:r>
          </a:p>
        </p:txBody>
      </p:sp>
      <p:sp>
        <p:nvSpPr>
          <p:cNvPr id="4" name="Shape 4"/>
          <p:cNvSpPr/>
          <p:nvPr>
            <p:ph type="sldNum"/>
          </p:nvPr>
        </p:nvSpPr>
        <p:spPr/>
        <p:txBody>
          <a:bodyPr/>
          <a:p>
            <a:r>
              <a:rPr lang="en-US"/>
              <a:t>2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notesSlide" Target="../notesSlides/notesSlide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ctrTitle"/>
          </p:nvPr>
        </p:nvSpPr>
        <p:spPr/>
        <p:txBody>
          <a:bodyPr/>
          <a:p>
            <a:r>
              <a:rPr lang="en-US"/>
              <a:t>Cell Biology 101</a:t>
            </a:r>
          </a:p>
        </p:txBody>
      </p:sp>
      <p:sp>
        <p:nvSpPr>
          <p:cNvPr id="3" name="Shape 3"/>
          <p:cNvSpPr/>
          <p:nvPr>
            <p:ph type="subTitle"/>
          </p:nvPr>
        </p:nvSpPr>
        <p:spPr/>
        <p:txBody>
          <a:bodyPr/>
          <a:p>
            <a:r>
              <a:rPr lang="en-US"/>
              <a:t>Membranes and transport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/>
        <p:txBody>
          <a:bodyPr/>
          <a:p>
            <a:r>
              <a:rPr lang="en-US"/>
              <a:t>Transport compared</a:t>
            </a:r>
          </a:p>
        </p:txBody>
      </p:sp>
      <p:graphicFrame>
        <p:nvGraphicFramePr>
          <p:cNvPr id="9" name="Table"/>
          <p:cNvGraphicFramePr/>
          <p:nvPr/>
        </p:nvGraphicFramePr>
        <p:xfrm/>
        <a:graphic>
          <a:graphicData uri="http://schemas.openxmlformats.org/drawingml/2006/table">
            <a:tbl>
              <a:tr h="0">
                <a:tc>
                  <a:txBody>
                    <a:bodyPr/>
                    <a:p>
                      <a:r>
                        <a:rPr lang="en-US"/>
                        <a:t>Mechanism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Energy</a:t>
                      </a:r>
                    </a:p>
                  </a:txBody>
                </a:tc>
              </a:tr>
              <a:tr h="0">
                <a:tc>
                  <a:txBody>
                    <a:bodyPr/>
                    <a:p>
                      <a:r>
                        <a:rPr lang="en-US"/>
                        <a:t>Diffusion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None</a:t>
                      </a:r>
                    </a:p>
                  </a:txBody>
                </a:tc>
              </a:tr>
              <a:tr h="0">
                <a:tc>
                  <a:txBody>
                    <a:bodyPr/>
                    <a:p>
                      <a:r>
                        <a:rPr lang="en-US"/>
                        <a:t>Active transport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ATP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Shape 3"/>
          <p:cNvSpPr/>
          <p:nvPr/>
        </p:nvSpPr>
        <p:spPr/>
        <p:txBody>
          <a:bodyPr/>
          <a:p>
            <a:r>
              <a:rPr lang="en-US"/>
              <a:t>Na⁺ &amp; K⁺ pumps</a:t>
            </a:r>
          </a:p>
        </p:txBody>
      </p:sp>
      <p:pic>
        <p:nvPicPr>
          <p:cNvPr id="4" name="Picture 4" descr=""/>
          <p:cNvPicPr/>
          <p:nvPr/>
        </p:nvPicPr>
        <p:blipFill>
          <a:blip r:embed="rId1"/>
        </p:blipFill>
        <p:spPr/>
      </p:pic>
      <p:pic>
        <p:nvPicPr>
          <p:cNvPr id="5" name="Picture 5" descr="Logo"/>
          <p:cNvPicPr/>
          <p:nvPr/>
        </p:nvPicPr>
        <p:blipFill>
          <a:blip r:embed="rId2"/>
        </p:blipFill>
        <p:spPr/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/>
        <p:txBody>
          <a:bodyPr/>
          <a:p>
            <a:r>
              <a:rPr lang="en-US"/>
              <a:t>Osmosis</a:t>
            </a:r>
          </a:p>
        </p:txBody>
      </p:sp>
      <p:sp>
        <p:nvSpPr>
          <p:cNvPr id="3" name="Shape 3"/>
          <p:cNvSpPr/>
          <p:nvPr>
            <p:ph type="body"/>
          </p:nvPr>
        </p:nvSpPr>
        <p:spPr/>
        <p:txBody>
          <a:bodyPr/>
          <a:p>
            <a:r>
              <a:rPr lang="en-US"/>
              <a:t>Diffusion of water across a semi-permeable membrane</a:t>
            </a:r>
          </a:p>
          <a:p>
            <a:pPr lvl="1"/>
            <a:r>
              <a:rPr lang="en-US"/>
              <a:t>From low to high solute concentration</a:t>
            </a:r>
          </a:p>
        </p:txBody>
      </p:sp>
      <p:pic>
        <p:nvPicPr>
          <p:cNvPr id="4" name="Picture 4" descr="Diagram of osmosis"/>
          <p:cNvPicPr/>
          <p:nvPr/>
        </p:nvPicPr>
        <p:blipFill>
          <a:blip r:embed="rId2"/>
        </p:blipFill>
        <p:spPr/>
      </p:pic>
      <p:sp>
        <p:nvSpPr>
          <p:cNvPr id="5" name="Shape 5"/>
          <p:cNvSpPr/>
          <p:nvPr>
            <p:ph type="sldNum"/>
          </p:nvPr>
        </p:nvSpPr>
        <p:spPr/>
        <p:txBody>
          <a:bodyPr/>
          <a:p>
            <a:r>
              <a:rPr lang="en-US"/>
              <a:t>2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/>
        <p:txBody>
          <a:bodyPr/>
          <a:p>
            <a:r>
              <a:rPr lang="en-US"/>
              <a:t>Backup</a:t>
            </a:r>
          </a:p>
        </p:txBody>
      </p:sp>
      <p:sp>
        <p:nvSpPr>
          <p:cNvPr id="3" name="Shape 3"/>
          <p:cNvSpPr/>
          <p:nvPr>
            <p:ph type="body"/>
          </p:nvPr>
        </p:nvSpPr>
        <p:spPr/>
        <p:txBody>
          <a:bodyPr/>
          <a:p>
            <a:r>
              <a:rPr lang="en-US"/>
              <a:t>Extra data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Cell Biology 101</dc:title>
</cp:coreProperties>
</file>